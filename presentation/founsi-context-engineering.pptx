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E2C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2286000" cy="36338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155448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300" b="1" dirty="0">
                <a:solidFill>
                  <a:srgbClr val="FFFF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Context Engineering</a:t>
            </a:r>
            <a:endParaRPr lang="en-US" sz="4300" dirty="0"/>
          </a:p>
        </p:txBody>
      </p:sp>
      <p:sp>
        <p:nvSpPr>
          <p:cNvPr id="4" name="Text 1"/>
          <p:cNvSpPr/>
          <p:nvPr/>
        </p:nvSpPr>
        <p:spPr>
          <a:xfrm>
            <a:off x="548640" y="2395728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3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Inside the Harness</a:t>
            </a:r>
            <a:endParaRPr lang="en-US" sz="4300" dirty="0"/>
          </a:p>
        </p:txBody>
      </p:sp>
      <p:sp>
        <p:nvSpPr>
          <p:cNvPr id="5" name="Text 2"/>
          <p:cNvSpPr/>
          <p:nvPr/>
        </p:nvSpPr>
        <p:spPr>
          <a:xfrm>
            <a:off x="548640" y="33832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Keeping a long-running agent from falling apart.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548640" y="4343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Kanishk Patel</a:t>
            </a:r>
            <a:pPr indent="0" marL="0">
              <a:buNone/>
            </a:pPr>
            <a:r>
              <a:rPr lang="en-US" sz="12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  ·   Founsi AI · Learn Agentic AI   ·   AI Tinkerers Calgary · June 22,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Brilliant at 5 steps. Dead at 50.</a:t>
            </a:r>
            <a:endParaRPr lang="en-US" sz="27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18304"/>
            <a:ext cx="237744" cy="17912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41248" y="468172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81728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645920"/>
            <a:ext cx="457200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Same model. Same 40-line loop. It drifts, repeats itself, forgets its goal —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then hits the hard context limit and the run just dies.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Nothing changed in the model. Something filled up.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669280" y="1737360"/>
            <a:ext cx="2743200" cy="457200"/>
          </a:xfrm>
          <a:prstGeom prst="rect">
            <a:avLst/>
          </a:prstGeom>
          <a:solidFill>
            <a:srgbClr val="F7C1C1"/>
          </a:solidFill>
          <a:ln/>
        </p:spPr>
      </p:sp>
      <p:sp>
        <p:nvSpPr>
          <p:cNvPr id="9" name="Text 6"/>
          <p:cNvSpPr/>
          <p:nvPr/>
        </p:nvSpPr>
        <p:spPr>
          <a:xfrm>
            <a:off x="5669280" y="17373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32D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context_length_exceeded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5669280" y="2286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51 →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REFRAME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context window isn't storage. It's a budget.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18304"/>
            <a:ext cx="237744" cy="17912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41248" y="468172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81728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645920"/>
            <a:ext cx="80467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model is stateless — every turn you re-send the entire history.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 50-step run pays for its history ~50 times: cost climbs, latency climbs,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and recall drops — models read the middle of a long context worst.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 bigger window raises the ceiling. It doesn't bend the curve.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55448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model is a commodity you </a:t>
            </a:r>
            <a:pPr algn="ctr" indent="0" marL="0">
              <a:buNone/>
            </a:pPr>
            <a:r>
              <a:rPr lang="en-US" sz="3400" b="1" i="1" dirty="0">
                <a:solidFill>
                  <a:srgbClr val="7B5EF0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rent</a:t>
            </a:r>
            <a:pPr algn="ctr" indent="0" marL="0">
              <a:buNone/>
            </a:pPr>
            <a:r>
              <a:rPr lang="en-US" sz="34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246888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harness is the part you </a:t>
            </a:r>
            <a:pPr algn="ctr" indent="0" marL="0">
              <a:buNone/>
            </a:pPr>
            <a:r>
              <a:rPr lang="en-US" sz="3400" b="1" i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build</a:t>
            </a:r>
            <a:pPr algn="ctr" indent="0" marL="0">
              <a:buNone/>
            </a:pPr>
            <a:r>
              <a:rPr lang="en-US" sz="34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3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18304"/>
            <a:ext cx="237744" cy="17912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41248" y="468172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81728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MENTAL MODEL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list is the mind.</a:t>
            </a:r>
            <a:endParaRPr lang="en-US" sz="27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18304"/>
            <a:ext cx="237744" cy="17912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41248" y="468172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81728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600200"/>
            <a:ext cx="80467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model remembers nothing between calls.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Every turn, the harness rebuilds one list of messages — and that list IS the agent's entire mind for that turn.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If the agent forgot its goal, the goal wasn't in the list. There's no magic.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messages() = pinned + body. The whole game is what goes in those two lists.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MAP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Five moves. One matters tonight.</a:t>
            </a:r>
            <a:endParaRPr lang="en-US" sz="27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18304"/>
            <a:ext cx="237744" cy="17912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41248" y="468172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81728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6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1645920"/>
            <a:ext cx="109728" cy="457200"/>
          </a:xfrm>
          <a:prstGeom prst="rect">
            <a:avLst/>
          </a:prstGeom>
          <a:solidFill>
            <a:srgbClr val="D4C9FF"/>
          </a:solidFill>
          <a:ln/>
        </p:spPr>
      </p:sp>
      <p:sp>
        <p:nvSpPr>
          <p:cNvPr id="8" name="Text 5"/>
          <p:cNvSpPr/>
          <p:nvPr/>
        </p:nvSpPr>
        <p:spPr>
          <a:xfrm>
            <a:off x="777240" y="164592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Pin   </a:t>
            </a:r>
            <a:pPr indent="0" marL="0">
              <a:buNone/>
            </a:pPr>
            <a:r>
              <a:rPr lang="en-US" sz="13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goal + system prompt, never dropped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548640" y="2212848"/>
            <a:ext cx="109728" cy="457200"/>
          </a:xfrm>
          <a:prstGeom prst="rect">
            <a:avLst/>
          </a:prstGeom>
          <a:solidFill>
            <a:srgbClr val="D4C9FF"/>
          </a:solidFill>
          <a:ln/>
        </p:spPr>
      </p:sp>
      <p:sp>
        <p:nvSpPr>
          <p:cNvPr id="10" name="Text 7"/>
          <p:cNvSpPr/>
          <p:nvPr/>
        </p:nvSpPr>
        <p:spPr>
          <a:xfrm>
            <a:off x="777240" y="221284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Truncate   </a:t>
            </a:r>
            <a:pPr indent="0" marL="0">
              <a:buNone/>
            </a:pPr>
            <a:r>
              <a:rPr lang="en-US" sz="13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cap oversized tool outputs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548640" y="2779776"/>
            <a:ext cx="109728" cy="457200"/>
          </a:xfrm>
          <a:prstGeom prst="rect">
            <a:avLst/>
          </a:prstGeom>
          <a:solidFill>
            <a:srgbClr val="9378FF"/>
          </a:solidFill>
          <a:ln/>
        </p:spPr>
      </p:sp>
      <p:sp>
        <p:nvSpPr>
          <p:cNvPr id="12" name="Text 9"/>
          <p:cNvSpPr/>
          <p:nvPr/>
        </p:nvSpPr>
        <p:spPr>
          <a:xfrm>
            <a:off x="777240" y="2779776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378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Compact   </a:t>
            </a:r>
            <a:pPr indent="0" marL="0">
              <a:buNone/>
            </a:pPr>
            <a:r>
              <a:rPr lang="en-US" sz="13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summarize the stale middle, drop raw turns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548640" y="3346704"/>
            <a:ext cx="109728" cy="457200"/>
          </a:xfrm>
          <a:prstGeom prst="rect">
            <a:avLst/>
          </a:prstGeom>
          <a:solidFill>
            <a:srgbClr val="D4C9FF"/>
          </a:solidFill>
          <a:ln/>
        </p:spPr>
      </p:sp>
      <p:sp>
        <p:nvSpPr>
          <p:cNvPr id="14" name="Text 11"/>
          <p:cNvSpPr/>
          <p:nvPr/>
        </p:nvSpPr>
        <p:spPr>
          <a:xfrm>
            <a:off x="777240" y="334670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Externalize   </a:t>
            </a:r>
            <a:pPr indent="0" marL="0">
              <a:buNone/>
            </a:pPr>
            <a:r>
              <a:rPr lang="en-US" sz="13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findings live in a file, not the window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" y="3913632"/>
            <a:ext cx="109728" cy="457200"/>
          </a:xfrm>
          <a:prstGeom prst="rect">
            <a:avLst/>
          </a:prstGeom>
          <a:solidFill>
            <a:srgbClr val="D4C9FF"/>
          </a:solidFill>
          <a:ln/>
        </p:spPr>
      </p:sp>
      <p:sp>
        <p:nvSpPr>
          <p:cNvPr id="16" name="Text 13"/>
          <p:cNvSpPr/>
          <p:nvPr/>
        </p:nvSpPr>
        <p:spPr>
          <a:xfrm>
            <a:off x="777240" y="39136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Cap   </a:t>
            </a:r>
            <a:pPr indent="0" marL="0">
              <a:buNone/>
            </a:pPr>
            <a:r>
              <a:rPr lang="en-US" sz="13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hard limits on steps / tokens / dollars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HEART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Compact, deeply.</a:t>
            </a:r>
            <a:endParaRPr lang="en-US" sz="27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18304"/>
            <a:ext cx="237744" cy="17912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41248" y="468172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81728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600200"/>
            <a:ext cx="80467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Over budget? Summarize the stale middle into one dense note; drop the raw turns.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Why the middle? It's the low-attention zone anyway (lost-in-the-middle).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gotcha: never split a tool-call from its result — real APIs reject that transcript.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Lossy on purpose — safe only because findings were externalized to disk.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E2C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LIVE DEMO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48640" y="274320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Watch the context bar grow, cross the threshold, ⚙ COMPACT, snap back — and keep going.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33832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37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run.py  ·  cat run/notes.md</a:t>
            </a:r>
            <a:endParaRPr lang="en-US" sz="14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18304"/>
            <a:ext cx="237744" cy="17912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41248" y="468172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8229600" y="4681728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ZERO TO ONE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Which way of forgetting loses least?</a:t>
            </a:r>
            <a:endParaRPr lang="en-US" sz="25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18304"/>
            <a:ext cx="237744" cy="17912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41248" y="468172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81728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554480"/>
            <a:ext cx="356616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Compaction is lossy — so which policy preserves the most facts per token?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Truncate · recency · importance · semantic.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 plant checkable facts and count how many survive each policy.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Early result, right →</a:t>
            </a:r>
            <a:endParaRPr lang="en-US" sz="1500" dirty="0"/>
          </a:p>
        </p:txBody>
      </p:sp>
      <p:pic>
        <p:nvPicPr>
          <p:cNvPr id="8" name="Image 1" descr="/Users/kanishk/Desktop/agent-harness/.claude/worktrees/sleepy-sinoussi-00c73b/presentation/figures/EXP-001_pareto_v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1325880"/>
            <a:ext cx="4572000" cy="309981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YOURS TO BUILD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Swap the brain. Clone the harness.</a:t>
            </a:r>
            <a:endParaRPr lang="en-US" sz="25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18304"/>
            <a:ext cx="237744" cy="17912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41248" y="468172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81728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600200"/>
            <a:ext cx="80467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Provider-agnostic via litellm — one flag swaps Claude / GPT / local Llama.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Runs offline with no API key (FakeLLM).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github.com/kanishkpatel1995/agent-harness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model is rented. The harness is yours.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E2C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737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APPENDIX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219456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full trace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31089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Every experiment: hypothesis · assumptions · method · figures · results · threats.</a:t>
            </a:r>
            <a:endParaRPr lang="en-US" sz="14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18304"/>
            <a:ext cx="237744" cy="17912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41248" y="468172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8229600" y="4681728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EXP-001 · COMPACTION-BAKEOFF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Hypothesis &amp; assumptions</a:t>
            </a:r>
            <a:endParaRPr lang="en-US" sz="27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18304"/>
            <a:ext cx="237744" cy="17912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41248" y="468172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81728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4173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378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Hypothesis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169164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Under a fixed token budget, summary-based compaction (recency / importance / semantic) preserves more needle-facts per token than truncation, and there is a budget B* trading compaction fact-loss against lost-in-the-middle.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48640" y="25146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378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Assumptions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48640" y="2788920"/>
            <a:ext cx="80467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Needle-fact recall is a valid proxy for task-relevant information retention.</a:t>
            </a:r>
            <a:endParaRPr lang="en-US" sz="12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approx_tokens (~4 chars/token) is acceptable for budget gating.</a:t>
            </a:r>
            <a:endParaRPr lang="en-US" sz="12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summarizer model is held fixed across policies within a run.</a:t>
            </a:r>
            <a:endParaRPr lang="en-US" sz="12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Coined needle tokens are recoverable only from context, not model priors.</a:t>
            </a:r>
            <a:endParaRPr lang="en-US" sz="12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Synthetic transcripts approximate real agent compaction dynamics.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EXP-001 · METHOD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Mode A — the controlled probe</a:t>
            </a:r>
            <a:endParaRPr lang="en-US" sz="25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18304"/>
            <a:ext cx="237744" cy="17912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41248" y="468172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81728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600200"/>
            <a:ext cx="80467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Build a needle-bearing transcript (deterministic, seeded) up to run-length L.</a:t>
            </a:r>
            <a:endParaRPr lang="en-US" sz="13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Compact it under budget B with each policy — real model writes the summaries.</a:t>
            </a:r>
            <a:endParaRPr lang="en-US" sz="13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Probe: ask the model to recover the planted facts from the compacted window.</a:t>
            </a:r>
            <a:endParaRPr lang="en-US" sz="13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Metrics — fidelity (literal survival, scores the policy) vs probe (model recall@length); cost in tokens billed.</a:t>
            </a:r>
            <a:endParaRPr lang="en-US" sz="13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Free NVIDIA NIM (llama-3.1-8b dev); paced + backed-off + cached; every prompt saved to prompts.jsonl.</a:t>
            </a:r>
            <a:endParaRPr lang="en-US" sz="13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EXP-001 · RESULTS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Quality vs cost by policy</a:t>
            </a:r>
            <a:endParaRPr lang="en-US" sz="25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18304"/>
            <a:ext cx="237744" cy="17912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41248" y="468172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81728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12</a:t>
            </a:r>
            <a:endParaRPr lang="en-US" sz="900" dirty="0"/>
          </a:p>
        </p:txBody>
      </p:sp>
      <p:pic>
        <p:nvPicPr>
          <p:cNvPr id="7" name="Image 1" descr="/Users/kanishk/Desktop/agent-harness/.claude/worktrees/sleepy-sinoussi-00c73b/presentation/figures/EXP-001_pareto_v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4937760" cy="334670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760720" y="1554480"/>
            <a:ext cx="292608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Truncate is the floor: cheapest, ~0.2 recall.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Summary policies cluster higher (~0.4–0.5).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semantic edges it at B*=1000 (8b dev).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Note: 8b under-reads — 70b run is next.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EXP-001 · RESULTS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Needle recall by policy &amp; budget</a:t>
            </a:r>
            <a:endParaRPr lang="en-US" sz="25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18304"/>
            <a:ext cx="237744" cy="17912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41248" y="468172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81728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12</a:t>
            </a:r>
            <a:endParaRPr lang="en-US" sz="900" dirty="0"/>
          </a:p>
        </p:txBody>
      </p:sp>
      <p:pic>
        <p:nvPicPr>
          <p:cNvPr id="7" name="Image 1" descr="/Users/kanishk/Desktop/agent-harness/.claude/worktrees/sleepy-sinoussi-00c73b/presentation/figures/EXP-001_recall_by_policy_v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4937760" cy="334670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760720" y="1554480"/>
            <a:ext cx="292608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Recall reported as a fraction (poolable across needle counts).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Error bars = sd across seeds (now honest — seeds vary layout).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importance is tail-bound: can't reach small budgets with keep=2.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EXP-001 · RESULTS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No-compaction baseline &amp; the wall</a:t>
            </a:r>
            <a:endParaRPr lang="en-US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18304"/>
            <a:ext cx="237744" cy="17912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41248" y="468172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81728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12</a:t>
            </a:r>
            <a:endParaRPr lang="en-US" sz="900" dirty="0"/>
          </a:p>
        </p:txBody>
      </p:sp>
      <p:pic>
        <p:nvPicPr>
          <p:cNvPr id="7" name="Image 1" descr="/Users/kanishk/Desktop/agent-harness/.claude/worktrees/sleepy-sinoussi-00c73b/presentation/figures/EXP-001_baseline_recall_v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4937760" cy="334670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760720" y="1554480"/>
            <a:ext cx="292608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Baseline grows the raw context and measures recall vs length.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When raw tokens exceed the model's max window → context_overflow: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agent dies. Compaction is the fix; we measure the deaths it prevents.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EXP-001 · THREATS TO VALIDITY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What could make this wrong</a:t>
            </a:r>
            <a:endParaRPr lang="en-US" sz="25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18304"/>
            <a:ext cx="237744" cy="17912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41248" y="468172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81728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600200"/>
            <a:ext cx="80467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Synthetic data + simulated agent — not a live decision-making run (Mode B is next).</a:t>
            </a:r>
            <a:endParaRPr lang="en-US" sz="13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Needle recall is a proxy for diffuse understanding; score normalization is a choice.</a:t>
            </a:r>
            <a:endParaRPr lang="en-US" sz="13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8b under-reads (weak instruction-following) — final numbers need 70b.</a:t>
            </a:r>
            <a:endParaRPr lang="en-US" sz="13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Single task domain; importance/semantic are crude heuristics, not embeddings.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WHERE THIS GOES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Roadmap</a:t>
            </a:r>
            <a:endParaRPr lang="en-US" sz="27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18304"/>
            <a:ext cx="237744" cy="17912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41248" y="468172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81728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600200"/>
            <a:ext cx="80467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EXP-002 — the 70b run: real numbers, the 128k ceiling, find B*.</a:t>
            </a:r>
            <a:endParaRPr lang="en-US" sz="13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EXP-003 — lost-in-the-middle: recall by needle depth (data already logged).</a:t>
            </a:r>
            <a:endParaRPr lang="en-US" sz="13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Real eval datasets (RULER / LongBench / BABILong) via HF datasets.</a:t>
            </a:r>
            <a:endParaRPr lang="en-US" sz="13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LangChain summary-memory as a baseline arm to beat.</a:t>
            </a:r>
            <a:endParaRPr lang="en-US" sz="13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Mode B — the live agent loop for ecological validity. Then the paper.</a:t>
            </a:r>
            <a:endParaRPr lang="en-US" sz="13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REFERENCES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literature this stands on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18304"/>
            <a:ext cx="237744" cy="17912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41248" y="468172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81728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600200"/>
            <a:ext cx="80467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Lost in the Middle — Liu et al., arXiv:2307.03172.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RULER — Hsieh et al., 2404.06654 · HELMET — Yen et al., 2410.02694.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MemGPT — Packer et al., 2310.08560 · LLMLingua — Jiang et al., 2310.05736.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Judging LLM-as-a-Judge — Zheng et al., 2306.05685.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Effective context engineering for AI agents — Anthropic, 2025.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Context Engineering Inside the Harness</dc:title>
  <dc:subject>PptxGenJS Presentation</dc:subject>
  <dc:creator>Kanishk Patel</dc:creator>
  <cp:lastModifiedBy>Kanishk Patel</cp:lastModifiedBy>
  <cp:revision>1</cp:revision>
  <dcterms:created xsi:type="dcterms:W3CDTF">2026-06-19T18:09:08Z</dcterms:created>
  <dcterms:modified xsi:type="dcterms:W3CDTF">2026-06-19T18:09:08Z</dcterms:modified>
</cp:coreProperties>
</file>