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no-compaction</c:v>
                </c:pt>
              </c:strCache>
            </c:strRef>
          </c:tx>
          <c:spPr>
            <a:solidFill>
              <a:srgbClr val="E5534B"/>
            </a:solidFill>
            <a:ln w="33020" cap="flat">
              <a:solidFill>
                <a:srgbClr val="E5534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5534B"/>
              </a:solidFill>
              <a:ln w="9525" cap="flat">
                <a:solidFill>
                  <a:srgbClr val="E5534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0.62</c:v>
                </c:pt>
                <c:pt idx="1">
                  <c:v>0.33</c:v>
                </c:pt>
                <c:pt idx="2">
                  <c:v>0.12</c:v>
                </c:pt>
                <c:pt idx="3">
                  <c:v>0.16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truncate</c:v>
                </c:pt>
              </c:strCache>
            </c:strRef>
          </c:tx>
          <c:spPr>
            <a:solidFill>
              <a:srgbClr val="A09DAC"/>
            </a:solidFill>
            <a:ln w="33020" cap="flat">
              <a:solidFill>
                <a:srgbClr val="A09DA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09DAC"/>
              </a:solidFill>
              <a:ln w="9525" cap="flat">
                <a:solidFill>
                  <a:srgbClr val="A09DA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0.08</c:v>
                </c:pt>
                <c:pt idx="1">
                  <c:v>0.08</c:v>
                </c:pt>
                <c:pt idx="2">
                  <c:v>0.08</c:v>
                </c:pt>
                <c:pt idx="3">
                  <c:v>0.08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recency (summary)</c:v>
                </c:pt>
              </c:strCache>
            </c:strRef>
          </c:tx>
          <c:spPr>
            <a:solidFill>
              <a:srgbClr val="9378FF"/>
            </a:solidFill>
            <a:ln w="33020" cap="flat">
              <a:solidFill>
                <a:srgbClr val="9378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378FF"/>
              </a:solidFill>
              <a:ln w="9525" cap="flat">
                <a:solidFill>
                  <a:srgbClr val="9378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0.66</c:v>
                </c:pt>
                <c:pt idx="1">
                  <c:v>0.58</c:v>
                </c:pt>
                <c:pt idx="2">
                  <c:v>0.58</c:v>
                </c:pt>
                <c:pt idx="3">
                  <c:v>0.58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semantic</c:v>
                </c:pt>
              </c:strCache>
            </c:strRef>
          </c:tx>
          <c:spPr>
            <a:solidFill>
              <a:srgbClr val="2E2C32"/>
            </a:solidFill>
            <a:ln w="33020" cap="flat">
              <a:solidFill>
                <a:srgbClr val="2E2C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E2C32"/>
              </a:solidFill>
              <a:ln w="9525" cap="flat">
                <a:solidFill>
                  <a:srgbClr val="2E2C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8</c:v>
                  </c:pt>
                  <c:pt idx="1">
                    <c:v>16</c:v>
                  </c:pt>
                  <c:pt idx="2">
                    <c:v>32</c:v>
                  </c:pt>
                  <c:pt idx="3">
                    <c:v>48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0.59</c:v>
                </c:pt>
                <c:pt idx="1">
                  <c:v>0.54</c:v>
                </c:pt>
                <c:pt idx="2">
                  <c:v>0.62</c:v>
                </c:pt>
                <c:pt idx="3">
                  <c:v>0.58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7E7A8A"/>
                    </a:solidFill>
                    <a:latin typeface="Manrope"/>
                  </a:defRPr>
                </a:pPr>
                <a:r>
                  <a:rPr sz="1000" b="0" i="0" u="none" strike="noStrike">
                    <a:solidFill>
                      <a:srgbClr val="7E7A8A"/>
                    </a:solidFill>
                    <a:latin typeface="Manrope"/>
                  </a:rPr>
                  <a:t>run length (sources read)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7A8A"/>
                </a:solidFill>
                <a:latin typeface="Manrop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CE8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7A8A"/>
                </a:solidFill>
                <a:latin typeface="Manrope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655E74"/>
              </a:solidFill>
              <a:latin typeface="Manrope"/>
              <a:cs typeface="Manrope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2E2C32">
                <a:alpha val="100000"/>
              </a:srgbClr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2E2C32"/>
                    </a:solidFill>
                    <a:latin typeface="Manrop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2C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7B5EF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E7A8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880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2DA44E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09DA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378FF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semantic</c:v>
                  </c:pt>
                  <c:pt idx="1">
                    <c:v>importance</c:v>
                  </c:pt>
                  <c:pt idx="2">
                    <c:v>subagent</c:v>
                  </c:pt>
                  <c:pt idx="3">
                    <c:v>rev_hyb</c:v>
                  </c:pt>
                  <c:pt idx="4">
                    <c:v>extern.</c:v>
                  </c:pt>
                  <c:pt idx="5">
                    <c:v>truncate</c:v>
                  </c:pt>
                  <c:pt idx="6">
                    <c:v>recency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0.57</c:v>
                </c:pt>
                <c:pt idx="1">
                  <c:v>0.5</c:v>
                </c:pt>
                <c:pt idx="2">
                  <c:v>0.5</c:v>
                </c:pt>
                <c:pt idx="3">
                  <c:v>0.47</c:v>
                </c:pt>
                <c:pt idx="4">
                  <c:v>0.4</c:v>
                </c:pt>
                <c:pt idx="5">
                  <c:v>0.37</c:v>
                </c:pt>
                <c:pt idx="6">
                  <c:v>0.37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2E2C32"/>
                  </a:solidFill>
                  <a:latin typeface="Manrop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E2C32"/>
                </a:solidFill>
                <a:latin typeface="Manrop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"/>
        </c:scaling>
        <c:delete val="0"/>
        <c:axPos val="l"/>
        <c:majorGridlines>
          <c:spPr>
            <a:ln w="6350" cap="flat">
              <a:solidFill>
                <a:srgbClr val="ECE8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E7A8A"/>
                </a:solidFill>
                <a:latin typeface="Manrope"/>
              </a:defRPr>
            </a:pPr>
            <a:endParaRPr lang="en-US"/>
          </a:p>
        </c:txPr>
        <c:crossAx val="2094734554"/>
        <c:crosses val="autoZero"/>
        <c:crossBetween val="between"/>
        <c:majorUnit val="0.2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194560" cy="34884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463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AI TINKERERS · CALGARY · JUNE 23, 2026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548640" y="182880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Context Engineering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8229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Inside the Harness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548640" y="3520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Which way of forgetting keeps a long-running agent alive? I built the bake-off to find out.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4343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Kanishk Patel</a:t>
            </a:r>
            <a:pPr indent="0" marL="0">
              <a:buNone/>
            </a:pPr>
            <a:r>
              <a:rPr lang="en-US" sz="12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  ·   Founsi AI   ·   Learn Agentic AI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Brilliant at 5 steps. Dead at 50.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212080" cy="2926080"/>
          </a:xfrm>
          <a:prstGeom prst="rect">
            <a:avLst/>
          </a:prstGeom>
          <a:solidFill>
            <a:srgbClr val="1A1920"/>
          </a:solidFill>
          <a:ln w="12700">
            <a:solidFill>
              <a:srgbClr val="2A28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746504"/>
            <a:ext cx="91440" cy="91440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746504"/>
            <a:ext cx="91440" cy="91440"/>
          </a:xfrm>
          <a:prstGeom prst="ellipse">
            <a:avLst/>
          </a:prstGeom>
          <a:solidFill>
            <a:srgbClr val="D4880F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746504"/>
            <a:ext cx="91440" cy="91440"/>
          </a:xfrm>
          <a:prstGeom prst="ellipse">
            <a:avLst/>
          </a:prstGeom>
          <a:solidFill>
            <a:srgbClr val="2DA4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984248"/>
            <a:ext cx="4809744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FE8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05  search("France GDP 2023")   ✓ found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06  reason → draft answer       ✓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48  search("France GDP 2023")   ✓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49  search("France GDP 2023")   ↺ already knew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50  search("France capital")    ↺ looping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51  ...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07A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✗ context_length_exceeded (8192 tok)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89320" y="21945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model. Same code.
</a:t>
            </a:r>
            <a:endParaRPr lang="en-US" sz="18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Nothing changed in the model — </a:t>
            </a:r>
            <a:pPr indent="0" marL="0">
              <a:lnSpc>
                <a:spcPts val="2200"/>
              </a:lnSpc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something filled up.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WHY IT DIES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window is a budget, not a backpack.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417320"/>
          <a:ext cx="484632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577840" y="1463040"/>
            <a:ext cx="3063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Stateless model: every turn you re-send the whole history. Cost and latency climb with it.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Attention spreads thin — models read the middle of a long context worst (“lost in the middle”).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 context collapses 0.62 → 0.12 as the run grows. A short clean summary holds near 0.58.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 · needle recall vs. run length, Llama-3.1-8B. Bigger window raises the ceiling; it doesn't bend the curve.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REFRAME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Engineer </a:t>
            </a:r>
            <a:pPr algn="ctr" indent="0" marL="0">
              <a:buNone/>
            </a:pPr>
            <a:r>
              <a:rPr lang="en-US" sz="3200" b="1" i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the model sees</a:t>
            </a:r>
            <a:pPr algn="ctr" indent="0" marL="0">
              <a:buNone/>
            </a:pPr>
            <a:r>
              <a:rPr lang="en-US" sz="32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,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12140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single turn.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554480" y="3200400"/>
            <a:ext cx="6035040" cy="18288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3832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is a commodity you rent. </a:t>
            </a:r>
            <a:pPr algn="ctr" indent="0" marL="0">
              <a:buNone/>
            </a:pPr>
            <a:r>
              <a:rPr lang="en-US" sz="16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harness is the part you build.</a:t>
            </a:r>
            <a:endParaRPr lang="en-US" sz="16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MENTAL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list IS the mind.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Perceive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 tool results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520440" y="15544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Think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LLM call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400800" y="1554480"/>
            <a:ext cx="192024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call a tool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560320" y="1920240"/>
            <a:ext cx="9601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5440680" y="1920240"/>
            <a:ext cx="9601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7178040" y="2286000"/>
            <a:ext cx="0" cy="45720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178040" y="2743200"/>
            <a:ext cx="-553212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1645920" y="2743200"/>
            <a:ext cx="0" cy="-45720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1645920" y="27889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turn, the harness rebuilds one list of messages and hands it over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329184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model remembers nothing. That freshly-built list is the agent's entire mind for the turn.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If the agent forgot its goal, the goal wasn't in the list. No magic — just: what do we put in the list?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LEVERS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Five moves. One matters tonight.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5544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goal + system prompt — never dropped.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39696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3969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giant tool outputs before they land.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724912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2491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middle, drop the raw turns — where agents live or die.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310128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31012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findings to disk; the window stays small.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89534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89534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steps, tokens, dollars.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could give a talk on each. Tonight I go deep on compaction — it's the one doing the real work.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1 / 5  ·  CONTEXT.PY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Pin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goal + system prompt fixed at the top — never dropped.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Pinned: survives every compaction. The agent never forgets why it's here.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828800" y="1874520"/>
            <a:ext cx="2468880" cy="457200"/>
          </a:xfrm>
          <a:prstGeom prst="rect">
            <a:avLst/>
          </a:prstGeom>
          <a:solidFill>
            <a:srgbClr val="EFEBFF"/>
          </a:solidFill>
          <a:ln w="12700">
            <a:solidFill>
              <a:srgbClr val="9378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1874520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828800" y="2404872"/>
            <a:ext cx="246888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38528" y="2404872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 result (old)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828800" y="2935224"/>
            <a:ext cx="246888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38528" y="2935224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 result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1828800" y="3465576"/>
            <a:ext cx="246888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938528" y="3465576"/>
            <a:ext cx="2249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turn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828800" y="1874520"/>
            <a:ext cx="2249424" cy="4572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r" indent="0" marL="0">
              <a:buNone/>
            </a:pPr>
            <a:r>
              <a:rPr lang="en-US" sz="900" b="1" spc="2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PINNED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4343400" y="2103120"/>
            <a:ext cx="54864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029200" y="19659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everything else can be dropped.
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this block cannot.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2 / 5  ·  CONTEXT.PY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Truncate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Cap a giant tool output before it lands in the window.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the head; the full text goes to disk. One 200 KB page can't drown the window.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371600" y="2103120"/>
            <a:ext cx="274320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tool output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200 KB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06240" y="2542032"/>
            <a:ext cx="50292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1" name="Text 8"/>
          <p:cNvSpPr/>
          <p:nvPr/>
        </p:nvSpPr>
        <p:spPr>
          <a:xfrm>
            <a:off x="4800600" y="2240280"/>
            <a:ext cx="1828800" cy="548640"/>
          </a:xfrm>
          <a:prstGeom prst="roundRect">
            <a:avLst>
              <a:gd name="adj" fmla="val 11667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first 2 KB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kept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715000" y="2788920"/>
            <a:ext cx="0" cy="411480"/>
          </a:xfrm>
          <a:prstGeom prst="line">
            <a:avLst/>
          </a:prstGeom>
          <a:noFill/>
          <a:ln w="22225">
            <a:solidFill>
              <a:srgbClr val="2DA44E"/>
            </a:solidFill>
            <a:prstDash val="dash"/>
            <a:headEnd type="none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4800600" y="3246120"/>
            <a:ext cx="1828800" cy="502920"/>
          </a:xfrm>
          <a:prstGeom prst="roundRect">
            <a:avLst>
              <a:gd name="adj" fmla="val 12727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rest → notes.md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3 / 5  ·  CONTEXT.PY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the stale middle into one note; drop the raw turns.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middle is the low-attention zone anyway — replace it with a tight summary.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01168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before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2011680" y="2157984"/>
            <a:ext cx="182880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084832" y="2157984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 + goal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011680" y="2587752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84832" y="2587752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A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011680" y="3017520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084832" y="30175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B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011680" y="3447288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2084832" y="3447288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turn C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3977640" y="2377440"/>
            <a:ext cx="45720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4892040" y="1828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after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892040" y="2157984"/>
            <a:ext cx="182880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65192" y="2157984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 + goal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4892040" y="2587752"/>
            <a:ext cx="1828800" cy="365760"/>
          </a:xfrm>
          <a:prstGeom prst="rect">
            <a:avLst/>
          </a:prstGeom>
          <a:solidFill>
            <a:srgbClr val="EFEB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65192" y="2587752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 A–C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892040" y="3017520"/>
            <a:ext cx="18288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65192" y="301752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4 / 5  ·  MEMORY.PY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Externalize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findings to disk; keep only a pointer in the window.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window stays small; memory is unbounded — and compaction becomes safe.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1463040" y="1874520"/>
            <a:ext cx="2286000" cy="457200"/>
          </a:xfrm>
          <a:prstGeom prst="rect">
            <a:avLst/>
          </a:prstGeom>
          <a:solidFill>
            <a:srgbClr val="EFEBFF"/>
          </a:solidFill>
          <a:ln w="12700">
            <a:solidFill>
              <a:srgbClr val="9378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572768" y="1874520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goal + system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463040" y="2404872"/>
            <a:ext cx="228600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572768" y="2404872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[saved #3] ↩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1463040" y="2935224"/>
            <a:ext cx="228600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572768" y="2935224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[saved #4] ↩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1463040" y="3465576"/>
            <a:ext cx="2286000" cy="4572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572768" y="3465576"/>
            <a:ext cx="20665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turn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3840480" y="2651760"/>
            <a:ext cx="1463040" cy="0"/>
          </a:xfrm>
          <a:prstGeom prst="line">
            <a:avLst/>
          </a:prstGeom>
          <a:noFill/>
          <a:ln w="22225">
            <a:solidFill>
              <a:srgbClr val="2DA44E"/>
            </a:solidFill>
            <a:prstDash val="dash"/>
            <a:headEnd type="none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5394960" y="2240280"/>
            <a:ext cx="2468880" cy="914400"/>
          </a:xfrm>
          <a:prstGeom prst="roundRect">
            <a:avLst>
              <a:gd name="adj" fmla="val 7000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notes.md  (disk)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full findings, unbounded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MOVE 5 / 5  ·  BUDGET.PY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Cap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Hard limits on steps, tokens, and dollars — the kill switch.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Fail soft: when a cap trips, stop and return the best answer so far. Never crash.</a:t>
            </a:r>
            <a:endParaRPr lang="en-US" sz="14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554480" y="2011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steps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2093976"/>
            <a:ext cx="3291840" cy="219456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291840" y="2093976"/>
            <a:ext cx="1975104" cy="219456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2" name="Shape 9"/>
          <p:cNvSpPr/>
          <p:nvPr/>
        </p:nvSpPr>
        <p:spPr>
          <a:xfrm>
            <a:off x="6583680" y="2029968"/>
            <a:ext cx="0" cy="365760"/>
          </a:xfrm>
          <a:prstGeom prst="line">
            <a:avLst/>
          </a:prstGeom>
          <a:noFill/>
          <a:ln w="25400">
            <a:solidFill>
              <a:srgbClr val="E5534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20840" y="20116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5E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30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554480" y="2697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tokens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3291840" y="2779776"/>
            <a:ext cx="3291840" cy="219456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291840" y="2779776"/>
            <a:ext cx="1481328" cy="219456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17" name="Shape 14"/>
          <p:cNvSpPr/>
          <p:nvPr/>
        </p:nvSpPr>
        <p:spPr>
          <a:xfrm>
            <a:off x="6583680" y="2715768"/>
            <a:ext cx="0" cy="365760"/>
          </a:xfrm>
          <a:prstGeom prst="line">
            <a:avLst/>
          </a:prstGeom>
          <a:noFill/>
          <a:ln w="25400">
            <a:solidFill>
              <a:srgbClr val="E5534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20840" y="26974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5E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9.9k / 50k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554480" y="3383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dollars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291840" y="3465576"/>
            <a:ext cx="3291840" cy="219456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291840" y="3465576"/>
            <a:ext cx="395021" cy="219456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22" name="Shape 19"/>
          <p:cNvSpPr/>
          <p:nvPr/>
        </p:nvSpPr>
        <p:spPr>
          <a:xfrm>
            <a:off x="6583680" y="3401568"/>
            <a:ext cx="0" cy="365760"/>
          </a:xfrm>
          <a:prstGeom prst="line">
            <a:avLst/>
          </a:prstGeom>
          <a:noFill/>
          <a:ln w="25400">
            <a:solidFill>
              <a:srgbClr val="E5534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20840" y="33832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55E7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$0.12 / $1.00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035040" y="3657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5534B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 line = the cap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HEART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Compact: summarize the middle.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420624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545336"/>
            <a:ext cx="3877056" cy="1801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maybe_compact(msgs, budget):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tokens(msgs) &lt;= budget: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msgs        # under budget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head, mid, tail = split(msgs)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mid = safe_split(mid)  # keep pairs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summary = llm.summarize(mid)</a:t>
            </a:r>
            <a:endParaRPr lang="en-US" sz="1150" dirty="0"/>
          </a:p>
          <a:p>
            <a:pPr indent="0" marL="0">
              <a:lnSpc>
                <a:spcPts val="1518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head + [summary] + tail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98348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before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983480" y="1746504"/>
            <a:ext cx="169164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56632" y="1746504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+ goal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983480" y="2176272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56632" y="2176272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2KB page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83480" y="260604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56632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2KB page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983480" y="3035808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56632" y="3035808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tool: 2KB page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720840" y="2148840"/>
            <a:ext cx="182880" cy="0"/>
          </a:xfrm>
          <a:prstGeom prst="line">
            <a:avLst/>
          </a:prstGeom>
          <a:noFill/>
          <a:ln w="22225">
            <a:solidFill>
              <a:srgbClr val="9378FF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6949440" y="1417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after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949440" y="1746504"/>
            <a:ext cx="1691640" cy="365760"/>
          </a:xfrm>
          <a:prstGeom prst="rect">
            <a:avLst/>
          </a:prstGeom>
          <a:solidFill>
            <a:srgbClr val="D4C9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022592" y="1746504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 + goal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949440" y="2176272"/>
            <a:ext cx="1691640" cy="365760"/>
          </a:xfrm>
          <a:prstGeom prst="rect">
            <a:avLst/>
          </a:prstGeom>
          <a:solidFill>
            <a:srgbClr val="EFEB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022592" y="2176272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summary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949440" y="2606040"/>
            <a:ext cx="169164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22592" y="2606040"/>
            <a:ext cx="1545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recent turn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gotcha: </a:t>
            </a:r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never split a tool-call from its result — real APIs reject that transcript.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_safe_split handles it.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48640" y="449884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But compaction always forgets something — on purpose. </a:t>
            </a:r>
            <a:pPr indent="0" marL="0">
              <a:buNone/>
            </a:pPr>
            <a:r>
              <a:rPr lang="en-US" sz="1300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So which way of forgetting loses the least?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LIVE DEMO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68096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Watch it compact — and keep going.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2468880"/>
          </a:xfrm>
          <a:prstGeom prst="rect">
            <a:avLst/>
          </a:prstGeom>
          <a:solidFill>
            <a:srgbClr val="1A1920"/>
          </a:solidFill>
          <a:ln w="12700">
            <a:solidFill>
              <a:srgbClr val="2A28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609344"/>
            <a:ext cx="91440" cy="91440"/>
          </a:xfrm>
          <a:prstGeom prst="ellipse">
            <a:avLst/>
          </a:prstGeom>
          <a:solidFill>
            <a:srgbClr val="E5534B"/>
          </a:solidFill>
          <a:ln/>
        </p:spPr>
      </p:sp>
      <p:sp>
        <p:nvSpPr>
          <p:cNvPr id="6" name="Shape 4"/>
          <p:cNvSpPr/>
          <p:nvPr/>
        </p:nvSpPr>
        <p:spPr>
          <a:xfrm>
            <a:off x="877824" y="1609344"/>
            <a:ext cx="91440" cy="91440"/>
          </a:xfrm>
          <a:prstGeom prst="ellipse">
            <a:avLst/>
          </a:prstGeom>
          <a:solidFill>
            <a:srgbClr val="D4880F"/>
          </a:solidFill>
          <a:ln/>
        </p:spPr>
      </p:sp>
      <p:sp>
        <p:nvSpPr>
          <p:cNvPr id="7" name="Shape 5"/>
          <p:cNvSpPr/>
          <p:nvPr/>
        </p:nvSpPr>
        <p:spPr>
          <a:xfrm>
            <a:off x="1042416" y="1609344"/>
            <a:ext cx="91440" cy="91440"/>
          </a:xfrm>
          <a:prstGeom prst="ellipse">
            <a:avLst/>
          </a:prstGeom>
          <a:solidFill>
            <a:srgbClr val="2DA44E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47088"/>
            <a:ext cx="76443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run.py "context engineering for long-running agents"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7E7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[FakeLLM: offline, deterministic — no API key, no network]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6   tokens=3,662 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[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███████████████████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·············] 53%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7   tokens=5,516 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[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██████████████████████████████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8A8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···] 77%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D488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⚙ COMPACTED → window 1,336 tok. old turns summarized.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8   context back down — agent keeps working → finish()
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FCF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 DONE   10 steps · facts intact in run/notes.md ═══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bar crosses the threshold, snaps back, and the run survives — 5 steps vs 50.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44622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378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 it yourself: 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github.com/kanishkpatel1995/agent-harness &amp;&amp; python run.py</a:t>
            </a:r>
            <a:pPr indent="0" marL="0">
              <a:buNone/>
            </a:pPr>
            <a:r>
              <a:rPr lang="en-US" sz="1050" dirty="0">
                <a:solidFill>
                  <a:srgbClr val="7E7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— no API key. Swap models with --model.</a:t>
            </a:r>
            <a:endParaRPr lang="en-US" sz="10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ZERO TO ONE · WHICH COMPACTION?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Which way of forgetting loses the least?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2984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Compaction stays bounded by forgetting — on purpose.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policy below forgets differently (drop · summarize · externalize · or both). I measured which keeps the most answer-relevant facts per token.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48640" y="19202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policy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468880" y="192024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it forgets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680960" y="192024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cost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22677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2468880" y="226771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the oldest raw turns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680960" y="22677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26151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2468880" y="261518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stale middle (the shipped default)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7680960" y="261518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548640" y="29626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2468880" y="296265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highest-signal turns verbatim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680960" y="2962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48640" y="331012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2468880" y="3310128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cluster by topic, summarize each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7680960" y="331012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$$$$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48640" y="36576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2468880" y="365760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raw to a store, retrieve at answer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7680960" y="365760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02920" y="3986784"/>
            <a:ext cx="818388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7" name="Text 24"/>
          <p:cNvSpPr/>
          <p:nvPr/>
        </p:nvSpPr>
        <p:spPr>
          <a:xfrm>
            <a:off x="548640" y="400507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2468880" y="400507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in window + raw retrievable (ours)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7680960" y="400507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48640" y="4480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Plant checkable facts in the sources; count how many survive each policy, per token spent. Judged by a fixed 70B. (+subagent in appendix.)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TEST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bake-off: what we actually ran.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read sources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agent reads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60604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compact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under each policy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answer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question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537960" y="1508760"/>
            <a:ext cx="1737360" cy="731520"/>
          </a:xfrm>
          <a:prstGeom prst="roundRect">
            <a:avLst>
              <a:gd name="adj" fmla="val 875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judge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fixed 70B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377440" y="1874520"/>
            <a:ext cx="22860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4343400" y="1874520"/>
            <a:ext cx="22860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6309360" y="1874520"/>
            <a:ext cx="22860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4" name="Text 11"/>
          <p:cNvSpPr/>
          <p:nvPr/>
        </p:nvSpPr>
        <p:spPr>
          <a:xfrm>
            <a:off x="640080" y="237744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tight 1.5k-token budget forces 10–20 compactions per question — so the policy actually matters. Oracle sources isolate compaction from search.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297180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297180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Llama 3.1 8B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dev model — runs the bulk of the cells.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3410712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8" name="Text 15"/>
          <p:cNvSpPr/>
          <p:nvPr/>
        </p:nvSpPr>
        <p:spPr>
          <a:xfrm>
            <a:off x="768096" y="341071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Llama 3.3 70B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does the 8B ranking hold as the model gets stronger?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548640" y="384962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384962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Nemotron 30B-A3B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reasoning model — does answer-time reasoning change the ranking?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4288536"/>
            <a:ext cx="91440" cy="457200"/>
          </a:xfrm>
          <a:prstGeom prst="rect">
            <a:avLst/>
          </a:prstGeom>
          <a:solidFill>
            <a:srgbClr val="9378FF"/>
          </a:solidFill>
          <a:ln/>
        </p:spPr>
      </p:sp>
      <p:sp>
        <p:nvSpPr>
          <p:cNvPr id="22" name="Text 19"/>
          <p:cNvSpPr/>
          <p:nvPr/>
        </p:nvSpPr>
        <p:spPr>
          <a:xfrm>
            <a:off x="768096" y="428853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70B judge (fixed)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same grader across every arm and model — the metric held constant.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DATASETS &amp; THE METRIC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Two task types, one judge.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417320"/>
            <a:ext cx="3657600" cy="457200"/>
          </a:xfrm>
          <a:prstGeom prst="roundRect">
            <a:avLst>
              <a:gd name="adj" fmla="val 14000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FRAMES — multi-hop factual QA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0080" y="19659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“Who was U.S. president when the maker of the iPhone was founded?”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Gerald Ford — Apple was founded in 1976.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0080" y="3063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824 questions · reason across several gold articles.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4572000" y="1417320"/>
            <a:ext cx="3657600" cy="457200"/>
          </a:xfrm>
          <a:prstGeom prst="roundRect">
            <a:avLst>
              <a:gd name="adj" fmla="val 14000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LoCoMo — conversational memory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0" y="19659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“What pet did Maria say she adopted last spring?”
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 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 rescue greyhound named Pip — said back in session 4.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572000" y="3063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 convos · ~19 sessions · facts scattered across the history.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40080" y="3611880"/>
            <a:ext cx="7955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metric:  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 LLM judge (fixed 70B) credits a correct-but-paraphrased answer — a naive substring match inverted the ranking. FRAMES rewards a summarized reasoning chain; LoCoMo rewards exact scattered facts.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Q/A examples are illustrative of each task type.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OUR TECHNIQUE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reversible-hybrid differs from the five.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6002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policy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0" y="16002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compressed gist</a:t>
            </a:r>
            <a:endParaRPr lang="en-US" sz="110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in-window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0" y="160020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lossless raw</a:t>
            </a:r>
            <a:endParaRPr lang="en-US" sz="1100" dirty="0"/>
          </a:p>
          <a:p>
            <a:pPr algn="l" indent="0" marL="0">
              <a:lnSpc>
                <a:spcPts val="1200"/>
              </a:lnSpc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retrievable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167128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0" y="21671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583680" y="2167128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48640" y="2734056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 · importance · semantic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0" y="27340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583680" y="2734056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548640" y="3300984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0" y="3300984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dirty="0">
                <a:solidFill>
                  <a:srgbClr val="B9B4C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583680" y="3300984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02920" y="3831336"/>
            <a:ext cx="8092440" cy="548640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3867912"/>
            <a:ext cx="38404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0" y="3867912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6583680" y="3867912"/>
            <a:ext cx="2011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8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48640" y="43434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other policy keeps ONE thing. </a:t>
            </a:r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keeps both</a:t>
            </a:r>
            <a:pPr indent="0" marL="0">
              <a:buNone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so it can pick up whichever mechanism the task needs (gist for reasoning, raw for exact facts).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THE BAKE-OFF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Under pressure, the policies separate.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463040"/>
          <a:ext cx="493776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5623560" y="1463040"/>
            <a:ext cx="3063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EXP-003b · FRAMES, 8B, high pressure, judged (n=30).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shipped default (recency) is Pareto-dominated by plain truncation — 7x the cost, same accuracy.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Sub-agent isolation: 5x the cost of importance, no accuracy gain.</a:t>
            </a:r>
            <a:endParaRPr lang="en-US" sz="11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Structure-preserving (semantic, importance) lead on accuracy; reversible-hybrid is Pareto-efficient.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Accuracy by policy. Cost (tokens/q) is in the appendix table.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RESULT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Never the best. Never the worst. Everywhere.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3716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arm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74320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FR-8B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02336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FR-70B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30352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LC-8B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65836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LC-70B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1764792"/>
            <a:ext cx="7406640" cy="374904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13" name="Text 10"/>
          <p:cNvSpPr/>
          <p:nvPr/>
        </p:nvSpPr>
        <p:spPr>
          <a:xfrm>
            <a:off x="548640" y="17830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74320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0.47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402336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0.67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30352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583680" y="17830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486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74320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402336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30352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0.55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583680" y="2194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26060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74320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02336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0.60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30352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583680" y="26060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48640" y="30175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74320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0.57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02336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0.53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30352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0.27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6583680" y="301752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0.17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48640" y="3429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274320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0.37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02336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0.27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30352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0.12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583680" y="34290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0.09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in the top group of every cell — the only arm that is.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single winner is task-dependent (semantic on factual, externalize on memory) — the ranking even inverts.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548640" y="45720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 = FRAMES (factual), LC = LoCoMo (memory). n=30, judged by a fixed 70B; SE ≈ 0.09. Full matrices in appendix.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ONE SENTENCE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68680"/>
            <a:ext cx="8046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model is a commodity you rent.
</a:t>
            </a:r>
            <a:endParaRPr lang="en-US" sz="21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2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harness — what it forgets — is the part you build.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Clone it tonight — it runs with no API key. Any model, one flag.</a:t>
            </a:r>
            <a:endParaRPr lang="en-US" sz="1400" dirty="0"/>
          </a:p>
        </p:txBody>
      </p:sp>
      <p:pic>
        <p:nvPicPr>
          <p:cNvPr id="5" name="Image 0" descr="/Users/kanishk/Desktop/agent-harness/presentation/assets/qr/qr_re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2880360"/>
            <a:ext cx="1097280" cy="10972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Repo</a:t>
            </a:r>
            <a:endParaRPr lang="en-US" sz="1050" dirty="0"/>
          </a:p>
        </p:txBody>
      </p:sp>
      <p:pic>
        <p:nvPicPr>
          <p:cNvPr id="7" name="Image 1" descr="/Users/kanishk/Desktop/agent-harness/presentation/assets/qr/qr_newsle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2880360"/>
            <a:ext cx="1097280" cy="10972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256032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Learn Agentic AI</a:t>
            </a:r>
            <a:endParaRPr lang="en-US" sz="1050" dirty="0"/>
          </a:p>
        </p:txBody>
      </p:sp>
      <p:pic>
        <p:nvPicPr>
          <p:cNvPr id="9" name="Image 2" descr="/Users/kanishk/Desktop/agent-harness/presentation/assets/qr/qr_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880360"/>
            <a:ext cx="1097280" cy="109728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@above_almighty</a:t>
            </a:r>
            <a:endParaRPr lang="en-US" sz="1050" dirty="0"/>
          </a:p>
        </p:txBody>
      </p:sp>
      <p:pic>
        <p:nvPicPr>
          <p:cNvPr id="11" name="Image 3" descr="/Users/kanishk/Desktop/agent-harness/presentation/assets/qr/qr_linkedi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3720" y="2880360"/>
            <a:ext cx="1097280" cy="10972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583680" y="40325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LinkedIn</a:t>
            </a:r>
            <a:endParaRPr lang="en-US" sz="105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15" name="Text 8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E2C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APPENDIX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1488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full trace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Landscape · the 7 policies · our technique · setup · every result · protocol · references.</a:t>
            </a:r>
            <a:endParaRPr lang="en-US" sz="1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LANDSCAPE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92"/>
              </a:lnSpc>
              <a:buNone/>
            </a:pPr>
            <a:r>
              <a:rPr lang="en-US" sz="23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Everyone compacts. Nobody measured which way.</a:t>
            </a:r>
            <a:endParaRPr lang="en-US" sz="23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5544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Anthropic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names the moves — compaction, structured note-taking, “context rot.”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5798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5798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Cognition (Devin)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“context engineering is the #1 job”; don't fragment it across agents.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761488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614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· LlamaIndex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memory abstractions — summary buffers, vector memory.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364992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36499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·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treat the window like RAM; page facts to an external store.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968496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6" name="Text 13"/>
          <p:cNvSpPr/>
          <p:nvPr/>
        </p:nvSpPr>
        <p:spPr>
          <a:xfrm>
            <a:off x="768096" y="3968496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from a store instead of stuffing the prompt.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AT A GLANCE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Seven ways to forget.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1732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policy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2286000" y="14173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937760" y="141732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keeps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589520" y="141732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cost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180136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2286000" y="18013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the oldest raw turns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37760" y="18013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only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589520" y="180136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218541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286000" y="21854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stale middle (default)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37760" y="21854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recent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589520" y="218541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2569464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286000" y="256946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highest-signal turns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937760" y="256946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key turns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589520" y="256946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48640" y="295351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286000" y="29535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cluster by topic, summarize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37760" y="295351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topic structure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589520" y="29535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$$$$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48640" y="333756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2286000" y="33375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to store, retrieve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37760" y="333756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all (indexed)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7589520" y="33375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548640" y="372160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subagent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2286000" y="37216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 sub-tasks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4937760" y="37216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per-task context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7589520" y="372160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$$$$$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02920" y="4087368"/>
            <a:ext cx="818388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36" name="Text 33"/>
          <p:cNvSpPr/>
          <p:nvPr/>
        </p:nvSpPr>
        <p:spPr>
          <a:xfrm>
            <a:off x="548640" y="410565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2286000" y="410565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raw retrievable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37760" y="410565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both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7589520" y="410565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$$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Drop it, or summarize the middle.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9DA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194560" y="155448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 … recent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3749040" y="1554480"/>
            <a:ext cx="137160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drop old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no LLM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12064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5394960" y="1554480"/>
            <a:ext cx="146304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recent only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facts lost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194560" y="22128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Cheapest. Loses the most — old facts vanish without a trace.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378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recency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31089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 … recent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747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374904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middle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LLM call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9496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669280" y="310896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recent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stale flattened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767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shipped default (Claude Code / LangChain). Flattens the middle.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Both are summary-or-drop: once a fact leaves the window, only the (possibly lossy) summary remains.</a:t>
            </a:r>
            <a:endParaRPr lang="en-US" sz="11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Keep the signal, or cluster the topics.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194560" y="155448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turns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3749040" y="155448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rank by signal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score turns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3035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5577840" y="15544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 top verbatim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structure kept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194560" y="22128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Keeps the highest-signal turns word-for-word; drops the chatter.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31089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turns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747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374904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cluster by topic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embeddings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9496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66928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summarize each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topic map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767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Groups by topic, summarizes each cluster — preserves the shape of the work.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Structure-preserving: these led on FRAMES factual QA, where a summarized reasoning chain helps.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TECHNIQUES ·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Page it out, or spin up a fresh mind.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A44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194560" y="155448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turns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7472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3749040" y="15544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write → store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embeddings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486400" y="187452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5760720" y="1554480"/>
            <a:ext cx="17373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at answer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k-NN lookup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194560" y="22128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Pages raw turns to a vector store; pulls the relevant ones back at answer time.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48640" y="31089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subagent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2194560" y="3108960"/>
            <a:ext cx="128016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sub-goal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4747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7" name="Text 14"/>
          <p:cNvSpPr/>
          <p:nvPr/>
        </p:nvSpPr>
        <p:spPr>
          <a:xfrm>
            <a:off x="3749040" y="3108960"/>
            <a:ext cx="155448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fresh window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isolated run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0" y="3429000"/>
            <a:ext cx="27432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577840" y="3108960"/>
            <a:ext cx="1645920" cy="640080"/>
          </a:xfrm>
          <a:prstGeom prst="roundRect">
            <a:avLst>
              <a:gd name="adj" fmla="val 10000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return result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5x the cost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2194560" y="376732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Isolates a sub-task in its own clean window — the multi-agent move. Expensive.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Retrieval-based: externalize keeps the literal fact, which wins on conversational memory.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OUR TECHNIQUE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reversible-hybrid: keep the summary AND the raw.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40080" y="1874520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D4C9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stale window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old turns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2240280" y="2286000"/>
            <a:ext cx="41148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9" name="Text 6"/>
          <p:cNvSpPr/>
          <p:nvPr/>
        </p:nvSpPr>
        <p:spPr>
          <a:xfrm>
            <a:off x="2697480" y="132588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 the window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697480" y="242316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 turns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→ embedding store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651760" y="2011680"/>
            <a:ext cx="45720" cy="-27432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651760" y="2606040"/>
            <a:ext cx="45720" cy="27432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5029200" y="1325880"/>
            <a:ext cx="1737360" cy="777240"/>
          </a:xfrm>
          <a:prstGeom prst="roundRect">
            <a:avLst>
              <a:gd name="adj" fmla="val 8235"/>
            </a:avLst>
          </a:prstGeom>
          <a:solidFill>
            <a:srgbClr val="EFEBFF"/>
          </a:solidFill>
          <a:ln w="15875">
            <a:solidFill>
              <a:srgbClr val="9378FF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answer prompt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+ recent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434840" y="1691640"/>
            <a:ext cx="594360" cy="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434840" y="2788920"/>
            <a:ext cx="2331720" cy="-502920"/>
          </a:xfrm>
          <a:prstGeom prst="line">
            <a:avLst/>
          </a:prstGeom>
          <a:noFill/>
          <a:ln w="22225">
            <a:solidFill>
              <a:srgbClr val="2E2C32"/>
            </a:solidFill>
            <a:prstDash val="dash"/>
            <a:headEnd type="none"/>
            <a:tailEnd type="triangle"/>
          </a:ln>
        </p:spPr>
      </p:sp>
      <p:sp>
        <p:nvSpPr>
          <p:cNvPr id="16" name="Text 13"/>
          <p:cNvSpPr/>
          <p:nvPr/>
        </p:nvSpPr>
        <p:spPr>
          <a:xfrm>
            <a:off x="7040880" y="1691640"/>
            <a:ext cx="1554480" cy="868680"/>
          </a:xfrm>
          <a:prstGeom prst="roundRect">
            <a:avLst>
              <a:gd name="adj" fmla="val 7368"/>
            </a:avLst>
          </a:prstGeom>
          <a:solidFill>
            <a:srgbClr val="F4F2F8"/>
          </a:solidFill>
          <a:ln w="15875">
            <a:solidFill>
              <a:srgbClr val="2E2C32"/>
            </a:solidFill>
          </a:ln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retrieve top-k</a:t>
            </a:r>
            <a:endParaRPr lang="en-US" sz="12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raw, on demand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766560" y="1737360"/>
            <a:ext cx="274320" cy="182880"/>
          </a:xfrm>
          <a:prstGeom prst="line">
            <a:avLst/>
          </a:prstGeom>
          <a:noFill/>
          <a:ln w="22225">
            <a:solidFill>
              <a:srgbClr val="7E7A8A"/>
            </a:solidFill>
            <a:prstDash val="solid"/>
            <a:headEnd type="none"/>
            <a:tailEnd type="triangle"/>
          </a:ln>
        </p:spPr>
      </p:sp>
      <p:sp>
        <p:nvSpPr>
          <p:cNvPr id="18" name="Text 15"/>
          <p:cNvSpPr/>
          <p:nvPr/>
        </p:nvSpPr>
        <p:spPr>
          <a:xfrm>
            <a:off x="548640" y="37490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Summary keeps the gist cheaply in-window; raw stays losslessly retrievable. Prior systems do one or the other — we keep both.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548640" y="411480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Prediction (and result): never the single best, but never in the loser group — robust across task type and model size.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MECHANISM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Facts survive, and compaction beats raw.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2_recall_vs_length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00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46304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EXP-001: planted facts survive a compaction — truncation drops them, summaries keep ~2-3x more.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EXP-002: raw context collapses with length while compaction holds flat. Crossover ≈ 16 sources.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mechanism behind every impact result.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THE MODEL AXIS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Capability widens the smart-vs-blind gap.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29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3c_modelaxis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108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46304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Five arms across 8B → 70B → reasoning, judge fixed at 70B.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Blind truncation never improves (0.37, 0.27, 0.40) — a better model can't recover dropped context.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Every structure/retrieval arm climbs; the gap to truncation grows ~0.2 → ~0.3.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CROSS-DOMAIN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ranking inverts — the hybrid spans both.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</a:t>
            </a:r>
            <a:endParaRPr lang="en-US" sz="900" dirty="0"/>
          </a:p>
        </p:txBody>
      </p:sp>
      <p:pic>
        <p:nvPicPr>
          <p:cNvPr id="7" name="Image 1" descr="/Users/kanishk/Desktop/agent-harness/presentation/figures/EXP-004_transfer_v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4846320" cy="3200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669280" y="1463040"/>
            <a:ext cx="30175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Same arms on LoCoMo (memory) vs FRAMES (factual).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Inversion: on memory, retrieval wins (externalize 0.55); pure summary collapses (semantic 0.27).</a:t>
            </a:r>
            <a:endParaRPr lang="en-US" sz="12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top-group in BOTH (0.47 / 0.54) — it keeps both mechanisms.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FRAMES MODEL AXIS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FRAMES · 8B / 70B / reasoning (n=30).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44752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arm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926080" y="144475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8B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023360" y="144475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70B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120640" y="144475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reason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865376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926080" y="1865376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0.37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023360" y="1865376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0.27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120640" y="1865376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2286000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926080" y="2286000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023360" y="2286000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120640" y="2286000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0.67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548640" y="2706624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2926080" y="2706624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023360" y="2706624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0.60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120640" y="2706624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0.70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3127248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926080" y="3127248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0.57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4023360" y="3127248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0.53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5120640" y="3127248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02920" y="3529584"/>
            <a:ext cx="585216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8" name="Text 25"/>
          <p:cNvSpPr/>
          <p:nvPr/>
        </p:nvSpPr>
        <p:spPr>
          <a:xfrm>
            <a:off x="548640" y="3547872"/>
            <a:ext cx="237744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926080" y="354787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0.47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023360" y="3547872"/>
            <a:ext cx="10972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0.67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5120640" y="3547872"/>
            <a:ext cx="118872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0.70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Reasoning tier uses a fast 8B summarizer for compaction (the reasoning model self-summarized too slowly); it only answers.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RESULTS · COST &amp; LATENCY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 each policy costs to run.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444752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arm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2743200" y="144475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accuracy*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572000" y="144475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tokens/q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0" y="1444752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rel. latency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1865376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truncate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743200" y="1865376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0.37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0" y="1865376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1.2k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400800" y="1865376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fastest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2286000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externalize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2743200" y="2286000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0.40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572000" y="2286000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1.9k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400800" y="2286000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 (+embed)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02920" y="2688336"/>
            <a:ext cx="7955280" cy="384048"/>
          </a:xfrm>
          <a:prstGeom prst="rect">
            <a:avLst/>
          </a:prstGeom>
          <a:solidFill>
            <a:srgbClr val="EFEBFF"/>
          </a:solidFill>
          <a:ln/>
        </p:spPr>
      </p:sp>
      <p:sp>
        <p:nvSpPr>
          <p:cNvPr id="20" name="Text 17"/>
          <p:cNvSpPr/>
          <p:nvPr/>
        </p:nvSpPr>
        <p:spPr>
          <a:xfrm>
            <a:off x="548640" y="2706624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reversible_hybrid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2743200" y="2706624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0.47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4572000" y="2706624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9.9k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400800" y="2706624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B5EF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moderate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48640" y="3127248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importance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2743200" y="3127248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0.50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4572000" y="3127248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14.2k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400800" y="3127248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slow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548640" y="3547872"/>
            <a:ext cx="219456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semantic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2743200" y="354787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0.57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4572000" y="3547872"/>
            <a:ext cx="18288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18.7k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400800" y="3547872"/>
            <a:ext cx="201168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slowest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*FRAMES 8B high pressure (EXP-003b). Latency observed: 8B ~2s, 70B ~6-8s; reasoning models bill ~6x tokens.</a:t>
            </a:r>
            <a:endParaRPr lang="en-US" sz="11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THROUGH-LINE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Six claims, backed by evidence.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Policy matters only under pressure — at low pressure they tie.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metric must credit paraphrase — a careless substring metric inverts the ranking.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shipped default (recency-summary) is weak — Pareto-dominated by truncation under pressure.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smart-vs-blind gap widens with capability (FRAMES) and persists on memory (LoCoMo).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The best single policy is task-dependent — summary on factual, retrieval on memory.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reversible-hybrid is the robust hedge: top group across task type AND model size. Keep the raw retrievable.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THIS MATCHES WHAT OTHERS SEE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We're not alone.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5544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 (2307.03172)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long contexts attend to the ends — our EXP-002 crossover is the same effect.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157984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57984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/ Mem0 / Letta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page facts to an external store — our externalize &amp; hybrid win where memory matters.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2761488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7614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ACON (2510.00615)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compress agent context; we add the which-way-is-best measurement.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364992"/>
            <a:ext cx="91440" cy="457200"/>
          </a:xfrm>
          <a:prstGeom prst="rect">
            <a:avLst/>
          </a:prstGeom>
          <a:solidFill>
            <a:srgbClr val="D4C9F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3364992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RAG (Lewis, 2020)  </a:t>
            </a:r>
            <a:pPr indent="0" marL="0">
              <a:buNone/>
            </a:pPr>
            <a:r>
              <a:rPr lang="en-US" sz="125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retrieval-as-compaction — our hybrid is RAG fused with summary memory.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FUTURE WORK · HOW YOU CAN HELP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Where this goes next.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Hold the summarizer constant across tiers; a reasoning tier on LoCoMo; larger N for tight bars.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Trained importance/semantic rankers instead of heuristics; a tuned reversible store.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LangChain summary-memory as a head-to-head baseline arm.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You can help: try a policy on your agent, add a dataset, or PR an arm. It's all reproducible.</a:t>
            </a:r>
            <a:endParaRPr lang="en-US" sz="13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WE KEEP IT HONEST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96"/>
              </a:lnSpc>
              <a:buNone/>
            </a:pPr>
            <a:r>
              <a:rPr lang="en-US" sz="24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Every experiment is a traceable run.</a:t>
            </a:r>
            <a:endParaRPr lang="en-US" sz="2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Hypothesis + assumptions stated before any code is written.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Each run writes EXP-NNN__slug__&lt;UTC&gt;/ with manifest.yaml · prompts.jsonl · results.csv · figures/ · README.</a:t>
            </a:r>
            <a:endParaRPr lang="en-US" sz="135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E2C32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Rate-limited + cached so reruns are free; seed everything; fail soft per cell; a watchdog kills hung calls.</a:t>
            </a:r>
            <a:endParaRPr lang="en-US" sz="13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HOW TO READ THIS REPO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25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What's in the project.</a:t>
            </a:r>
            <a:endParaRPr lang="en-US" sz="25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8046720" cy="2286000"/>
          </a:xfrm>
          <a:prstGeom prst="rect">
            <a:avLst/>
          </a:prstGeom>
          <a:solidFill>
            <a:srgbClr val="F4F2F8"/>
          </a:solidFill>
          <a:ln w="12700">
            <a:solidFill>
              <a:srgbClr val="D4C9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591056"/>
            <a:ext cx="7772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agent-harness/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harness/        the teaching harness: the loop + ContextManager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experiments/    the research: bench/ + applied/ (FRAMES, LoCoMo)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runs/        one folder per run: manifest + prompts + results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docs/research-track/   curriculum · paper · literature · protocol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presentation/   this deck + Founsi brand + figures</a:t>
            </a:r>
            <a:endParaRPr lang="en-US" sz="12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2E2C3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tests/          offline tests (no API key needed)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9319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Start at harness/loop.py (the loop), then experiments/applied/policies.py (the seven arms).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AF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4747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4"/>
              </a:lnSpc>
              <a:buNone/>
            </a:pPr>
            <a:r>
              <a:rPr lang="en-US" sz="26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The literature this stands on.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956048"/>
            <a:ext cx="201168" cy="15156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04672" y="491947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2C32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Founsi</a:t>
            </a:r>
            <a:pPr indent="0" marL="0">
              <a:buNone/>
            </a:pPr>
            <a:r>
              <a:rPr lang="en-US" sz="1000" b="1" dirty="0">
                <a:solidFill>
                  <a:srgbClr val="9378FF"/>
                </a:solidFill>
                <a:latin typeface="Syne" pitchFamily="34" charset="0"/>
                <a:ea typeface="Syne" pitchFamily="34" charset="-122"/>
                <a:cs typeface="Syne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0" y="491947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7A8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155448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Lost in the Middle, Liu et al., arXiv:2307.03172.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RULER 2404.06654 · HELMET 2410.02694 · NoLiMa 2502.05167.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MemGPT 2310.08560 · Mem0 2504.19413 · ACON 2510.00615.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Judging LLM-as-a-Judge, Zheng et al., 2306.05685.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655E74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FRAMES 2409.12941 · LoCoMo 2402.17753 · RAG (Lewis) 2005.11401.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Context Engineering Inside the Harness</dc:title>
  <dc:subject>PptxGenJS Presentation</dc:subject>
  <dc:creator>Kanishk Patel</dc:creator>
  <cp:lastModifiedBy>Kanishk Patel</cp:lastModifiedBy>
  <cp:revision>1</cp:revision>
  <dcterms:created xsi:type="dcterms:W3CDTF">2026-06-22T19:28:08Z</dcterms:created>
  <dcterms:modified xsi:type="dcterms:W3CDTF">2026-06-22T19:28:08Z</dcterms:modified>
</cp:coreProperties>
</file>