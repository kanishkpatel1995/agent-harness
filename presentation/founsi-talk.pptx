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2C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2194560" cy="3488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AI TINKERERS · CALGARY · JUNE 23, 2026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1783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Context Engineering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548640" y="2606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Inside the Harness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54864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Which way of forgetting keeps a long-running agent alive? A live tour.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Kanishk Patel</a:t>
            </a:r>
            <a:pPr indent="0" marL="0">
              <a:buNone/>
            </a:pPr>
            <a:r>
              <a:rPr lang="en-US" sz="12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 ·   Founsi AI   ·   Learn Agentic 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WHOLE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model is </a:t>
            </a:r>
            <a:pPr algn="ctr" indent="0" marL="0">
              <a:buNone/>
            </a:pPr>
            <a:r>
              <a:rPr lang="en-US" sz="3400" b="1" i="1" dirty="0">
                <a:solidFill>
                  <a:srgbClr val="655E74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rented</a:t>
            </a:r>
            <a:pPr algn="ctr" indent="0" marL="0">
              <a:buNone/>
            </a:pPr>
            <a:r>
              <a:rPr lang="en-US" sz="34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24028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</a:t>
            </a:r>
            <a:pPr algn="ctr" indent="0" marL="0">
              <a:buNone/>
            </a:pPr>
            <a:r>
              <a:rPr lang="en-US" sz="3400" b="1" i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harness</a:t>
            </a:r>
            <a:pPr algn="ctr" indent="0" marL="0">
              <a:buNone/>
            </a:pPr>
            <a:r>
              <a:rPr lang="en-US" sz="34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is the part you build.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2461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And the single most important thing it does is decide what to forget. Get that wrong and the agent drifts, repeats, and dies. Tonight: the code that gets it right, and every time it was wrong first.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Three moving parts.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40080" y="1508760"/>
            <a:ext cx="7955280" cy="658368"/>
          </a:xfrm>
          <a:prstGeom prst="roundRect">
            <a:avLst>
              <a:gd name="adj" fmla="val 9722"/>
            </a:avLst>
          </a:prstGeom>
          <a:solidFill>
            <a:srgbClr val="F4F2F8"/>
          </a:solidFill>
          <a:ln w="15875">
            <a:solidFill>
              <a:srgbClr val="D4C9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Agent loop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perceive → think → act → repeat   (harness/loop.py, ~80 lines)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17720" y="2167128"/>
            <a:ext cx="0" cy="301752"/>
          </a:xfrm>
          <a:prstGeom prst="line">
            <a:avLst/>
          </a:prstGeom>
          <a:noFill/>
          <a:ln w="22225">
            <a:solidFill>
              <a:srgbClr val="9378FF"/>
            </a:solidFill>
            <a:prstDash val="solid"/>
            <a:tailEnd type="triangle"/>
          </a:ln>
        </p:spPr>
      </p:sp>
      <p:sp>
        <p:nvSpPr>
          <p:cNvPr id="9" name="Text 6"/>
          <p:cNvSpPr/>
          <p:nvPr/>
        </p:nvSpPr>
        <p:spPr>
          <a:xfrm>
            <a:off x="640080" y="2514600"/>
            <a:ext cx="3383280" cy="868680"/>
          </a:xfrm>
          <a:prstGeom prst="roundRect">
            <a:avLst>
              <a:gd name="adj" fmla="val 7368"/>
            </a:avLst>
          </a:prstGeom>
          <a:solidFill>
            <a:srgbClr val="EFEBFF"/>
          </a:solidFill>
          <a:ln w="15875">
            <a:solidFill>
              <a:srgbClr val="9378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E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ContextManager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maybe_compact(): over budget? forget the middle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023360" y="2944368"/>
            <a:ext cx="411480" cy="0"/>
          </a:xfrm>
          <a:prstGeom prst="line">
            <a:avLst/>
          </a:prstGeom>
          <a:noFill/>
          <a:ln w="22225">
            <a:solidFill>
              <a:srgbClr val="7E7A8A"/>
            </a:solidFill>
            <a:prstDash val="solid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4434840" y="2514600"/>
            <a:ext cx="2103120" cy="868680"/>
          </a:xfrm>
          <a:prstGeom prst="roundRect">
            <a:avLst>
              <a:gd name="adj" fmla="val 7368"/>
            </a:avLst>
          </a:prstGeom>
          <a:solidFill>
            <a:srgbClr val="F4F2F8"/>
          </a:solidFill>
          <a:ln w="15875">
            <a:solidFill>
              <a:srgbClr val="D4C9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Compaction policy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 of 7, swappable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537960" y="2944368"/>
            <a:ext cx="365760" cy="0"/>
          </a:xfrm>
          <a:prstGeom prst="line">
            <a:avLst/>
          </a:prstGeom>
          <a:noFill/>
          <a:ln w="22225">
            <a:solidFill>
              <a:srgbClr val="7E7A8A"/>
            </a:solidFill>
            <a:prstDash val="solid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6903720" y="2514600"/>
            <a:ext cx="1691640" cy="868680"/>
          </a:xfrm>
          <a:prstGeom prst="roundRect">
            <a:avLst>
              <a:gd name="adj" fmla="val 7368"/>
            </a:avLst>
          </a:prstGeom>
          <a:solidFill>
            <a:srgbClr val="F4F2F8"/>
          </a:solidFill>
          <a:ln w="15875">
            <a:solidFill>
              <a:srgbClr val="D4C9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Store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raw, retrievable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2331720" y="3383280"/>
            <a:ext cx="0" cy="320040"/>
          </a:xfrm>
          <a:prstGeom prst="line">
            <a:avLst/>
          </a:prstGeom>
          <a:noFill/>
          <a:ln w="22225">
            <a:solidFill>
              <a:srgbClr val="9378FF"/>
            </a:solidFill>
            <a:prstDash val="solid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640080" y="3703320"/>
            <a:ext cx="7955280" cy="658368"/>
          </a:xfrm>
          <a:prstGeom prst="roundRect">
            <a:avLst>
              <a:gd name="adj" fmla="val 9722"/>
            </a:avLst>
          </a:prstGeom>
          <a:solidFill>
            <a:srgbClr val="F4F2F8"/>
          </a:solidFill>
          <a:ln w="15875">
            <a:solidFill>
              <a:srgbClr val="D4C9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run → a folder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manifest · every prompt · results · figures   (judge-scored, reproducible)</a:t>
            </a:r>
            <a:endParaRPr lang="en-US" sz="13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CONSTRAINT THAT BITES EVERYONE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Never split a tool-call from its result.</a:t>
            </a:r>
            <a:endParaRPr lang="en-US" sz="2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822960" y="1737360"/>
            <a:ext cx="5303520" cy="1938528"/>
          </a:xfrm>
          <a:prstGeom prst="roundRect">
            <a:avLst>
              <a:gd name="adj" fmla="val 2358"/>
            </a:avLst>
          </a:prstGeom>
          <a:solidFill>
            <a:srgbClr val="2E2C32"/>
          </a:solidFill>
          <a:ln w="12700">
            <a:solidFill>
              <a:srgbClr val="7B5E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828800"/>
            <a:ext cx="512064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_safe_split(body, proposed):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the kept tail can't start on a 'tool' message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idx = proposed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body[idx].role == 'tool':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idx += 1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idx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309360" y="182880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Cut the transcript between a call and its result, and a real API rejects the whole thing.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 lines. The difference between an agent that runs and a 400 error.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Trade-off: you can't always cut exactly at the budget line.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WAR STORY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metric that almost fooled 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0.21  →  0.62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Substring scoring made my best policy look like the worst. An LLM judge that credits paraphrase flipped it to best.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886200"/>
            <a:ext cx="91440" cy="457200"/>
          </a:xfrm>
          <a:prstGeom prst="rect">
            <a:avLst/>
          </a:prstGeom>
          <a:solidFill>
            <a:srgbClr val="9378F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3886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5E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Lesson  </a:t>
            </a:r>
            <a:pPr indent="0" marL="0">
              <a:buNone/>
            </a:pPr>
            <a:r>
              <a:rPr lang="en-US" sz="14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Your eval can quietly invert your conclusion.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WAR STORY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agent that froze at 0% CPU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no error. just gone.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Runs hung forever, Python idle, past the library timeout. Fix: a hard wall-clock watchdog on a worker thread (nim.py).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886200"/>
            <a:ext cx="91440" cy="457200"/>
          </a:xfrm>
          <a:prstGeom prst="rect">
            <a:avLst/>
          </a:prstGeom>
          <a:solidFill>
            <a:srgbClr val="9378F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3886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5E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Lesson  </a:t>
            </a:r>
            <a:pPr indent="0" marL="0">
              <a:buNone/>
            </a:pPr>
            <a:r>
              <a:rPr lang="en-US" sz="14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 not trust a library's timeout.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WAR STORY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reasoning model that wouldn't shut up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2k–20k token 'summaries'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Asked to compress, it rambled; turning thinking off corrupted it. Fix: a split summarizer (fast model compacts, reasoning model answers).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886200"/>
            <a:ext cx="91440" cy="457200"/>
          </a:xfrm>
          <a:prstGeom prst="rect">
            <a:avLst/>
          </a:prstGeom>
          <a:solidFill>
            <a:srgbClr val="9378F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3886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5E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Lesson  </a:t>
            </a:r>
            <a:pPr indent="0" marL="0">
              <a:buNone/>
            </a:pPr>
            <a:r>
              <a:rPr lang="en-US" sz="14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Reasoning models are bad compactors.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WAR STORY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confound I caught the day before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0.67  →  0.53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My 70B headline win shrank once I held the summarizer constant. The win was partly the summarizer, not the answer model.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886200"/>
            <a:ext cx="91440" cy="457200"/>
          </a:xfrm>
          <a:prstGeom prst="rect">
            <a:avLst/>
          </a:prstGeom>
          <a:solidFill>
            <a:srgbClr val="9378F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3886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5E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Lesson  </a:t>
            </a:r>
            <a:pPr indent="0" marL="0">
              <a:buNone/>
            </a:pPr>
            <a:r>
              <a:rPr lang="en-US" sz="14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Isolate your variable, even when it costs the headline.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E2C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Watch it grow, COMPACT, snap back, keep going.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7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run.py     ·     cat run/notes.md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Offline. No key. The window forgets; the scratchpad does not.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AND SO WHAT?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best way to forget depends on the task.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</a:t>
            </a:r>
            <a:endParaRPr lang="en-US" sz="900" dirty="0"/>
          </a:p>
        </p:txBody>
      </p:sp>
      <p:pic>
        <p:nvPicPr>
          <p:cNvPr id="7" name="Image 1" descr="/Users/kanishk/Desktop/agent-harness/presentation/figures/EXP-004_transfer_v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4846320" cy="32918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69280" y="150876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Same 7 policies, two task types, three model sizes.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ranking INVERTS: summarize for factual, keep-the-raw for memory.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one policy never in the loser group keeps BOTH a summary and the raw.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Error bars are bootstrap 95% CIs (FRAMES is still noisy at n=30).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AND SO WHAT?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policy that ships in most agents is weak.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1645920"/>
            <a:ext cx="7863840" cy="868680"/>
          </a:xfrm>
          <a:prstGeom prst="rect">
            <a:avLst/>
          </a:prstGeom>
          <a:solidFill>
            <a:srgbClr val="F4F2F8"/>
          </a:solidFill>
          <a:ln w="12700">
            <a:solidFill>
              <a:srgbClr val="D4C9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4592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recency summary  </a:t>
            </a:r>
            <a:pPr indent="0" marL="0">
              <a:buNone/>
            </a:pPr>
            <a:r>
              <a:rPr lang="en-US" sz="16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= truncation's accuracy,  </a:t>
            </a:r>
            <a:pPr indent="0" marL="0">
              <a:buNone/>
            </a:pPr>
            <a:r>
              <a:rPr lang="en-US" sz="1800" b="1" dirty="0">
                <a:solidFill>
                  <a:srgbClr val="A32D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7× the cost.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278892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Summarizing the stale middle bought nothing over just dropping it, under pressure.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Sub-agent isolation: same accuracy as keeping turns, 5× the cost. A trap on this task.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Both are cost-normalized negatives that anyone running agents can use today.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2C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20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Keep the raw </a:t>
            </a:r>
            <a:pPr algn="ctr" indent="0" marL="0">
              <a:buNone/>
            </a:pPr>
            <a:r>
              <a:rPr lang="en-US" sz="3800" b="1" i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retrievable</a:t>
            </a:r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188720" y="292608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One principle survives task type and model size: forget cheaply in-window, but keep the detail recoverable.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HOW TO CHECK 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Every number is a folder you can open.</a:t>
            </a:r>
            <a:endParaRPr lang="en-US" sz="2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73736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Each run: experiments/runs/EXP-NNN__slug__UTC/ — config + git sha, every prompt and response, results.csv, the figure.</a:t>
            </a:r>
            <a:endParaRPr lang="en-US" sz="13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Bootstrap CIs + McNemar tests (experiments/stats.py); seeded; rate-limited + cached so re-runs are free.</a:t>
            </a:r>
            <a:endParaRPr lang="en-US" sz="13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bar: a stranger clones the repo and regenerates any figure. The whole study cost $0 (free NIM API).</a:t>
            </a:r>
            <a:endParaRPr lang="en-US" sz="13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DECISIONS.md logs every call we made and every one we changed.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E2C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FIND 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Clone it. Break it. Tell me I'm wrong.</a:t>
            </a:r>
            <a:endParaRPr lang="en-US" sz="3000" dirty="0"/>
          </a:p>
        </p:txBody>
      </p:sp>
      <p:pic>
        <p:nvPicPr>
          <p:cNvPr id="4" name="Image 0" descr="/Users/kanishk/Desktop/agent-harness/presentation/assets/qr/qr_re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03120"/>
            <a:ext cx="1143000" cy="1143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32918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Repo</a:t>
            </a:r>
            <a:endParaRPr lang="en-US" sz="1100" dirty="0"/>
          </a:p>
        </p:txBody>
      </p:sp>
      <p:pic>
        <p:nvPicPr>
          <p:cNvPr id="6" name="Image 1" descr="/Users/kanishk/Desktop/agent-harness/presentation/assets/qr/qr_newslet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2103120"/>
            <a:ext cx="1143000" cy="1143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697480" y="32918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Learn Agentic AI</a:t>
            </a:r>
            <a:endParaRPr lang="en-US" sz="1100" dirty="0"/>
          </a:p>
        </p:txBody>
      </p:sp>
      <p:pic>
        <p:nvPicPr>
          <p:cNvPr id="8" name="Image 2" descr="/Users/kanishk/Desktop/agent-harness/presentation/assets/qr/qr_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2103120"/>
            <a:ext cx="1143000" cy="1143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800600" y="32918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X · @above_almighty</a:t>
            </a:r>
            <a:endParaRPr lang="en-US" sz="1100" dirty="0"/>
          </a:p>
        </p:txBody>
      </p:sp>
      <p:pic>
        <p:nvPicPr>
          <p:cNvPr id="10" name="Image 3" descr="/Users/kanishk/Desktop/agent-harness/presentation/assets/qr/qr_linked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2103120"/>
            <a:ext cx="1143000" cy="11430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903720" y="32918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LinkedIn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54864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github.com/kanishkpatel1995/agent-harness</a:t>
            </a:r>
            <a:endParaRPr lang="en-US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736592"/>
            <a:ext cx="219456" cy="16534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229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00" dirty="0"/>
          </a:p>
        </p:txBody>
      </p:sp>
      <p:sp>
        <p:nvSpPr>
          <p:cNvPr id="15" name="Text 8"/>
          <p:cNvSpPr/>
          <p:nvPr/>
        </p:nvSpPr>
        <p:spPr>
          <a:xfrm>
            <a:off x="8229600" y="46908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 Engineering Inside the Harness (talk)</dc:title>
  <dc:subject>PptxGenJS Presentation</dc:subject>
  <dc:creator>Kanishk Patel</dc:creator>
  <cp:lastModifiedBy>Kanishk Patel</cp:lastModifiedBy>
  <cp:revision>1</cp:revision>
  <dcterms:created xsi:type="dcterms:W3CDTF">2026-06-22T19:28:09Z</dcterms:created>
  <dcterms:modified xsi:type="dcterms:W3CDTF">2026-06-22T19:28:09Z</dcterms:modified>
</cp:coreProperties>
</file>